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</p:sldIdLst>
  <p:sldSz cx="12192000" cy="6858000"/>
  <p:notesSz cx="6858000" cy="9144000"/>
  <p:embeddedFontLst>
    <p:embeddedFont>
      <p:font typeface="Plus Jakarta Sans" charset="0"/>
      <p:regular r:id="rId14"/>
      <p:bold r:id="rId15"/>
      <p:italic r:id="rId16"/>
      <p:boldItalic r:id="rId17"/>
    </p:embeddedFont>
    <p:embeddedFont>
      <p:font typeface="Inter" charset="0"/>
      <p:regular r:id="rId18"/>
      <p:bold r:id="rId19"/>
      <p:italic r:id="rId20"/>
      <p:boldItalic r:id="rId21"/>
    </p:embeddedFont>
    <p:embeddedFont>
      <p:font typeface="Inter SemiBold" charset="0"/>
      <p:regular r:id="rId22"/>
      <p:bold r:id="rId23"/>
      <p:italic r:id="rId24"/>
      <p:boldItalic r:id="rId25"/>
    </p:embeddedFon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Plus Jakarta Sans SemiBold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6738562-3631-44F7-A234-CF1CED1B8779}">
  <a:tblStyle styleId="{C6738562-3631-44F7-A234-CF1CED1B87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9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7.png"/><Relationship Id="rId5" Type="http://schemas.openxmlformats.org/officeDocument/2006/relationships/image" Target="../media/image52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1.png"/><Relationship Id="rId9" Type="http://schemas.openxmlformats.org/officeDocument/2006/relationships/image" Target="../media/image23.png"/><Relationship Id="rId1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3109"/>
            <a:ext cx="232037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12940"/>
            <a:ext cx="1710779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259359"/>
            <a:ext cx="8601075" cy="121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Resume Screening &amp; Candidate Ranking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646140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modern recruitment tool designed for faster, objective, and data-driven hiring decisions at scale.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864072"/>
            <a:ext cx="1586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4912965"/>
            <a:ext cx="110594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1171575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 Overload: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Recruiters face hundreds of applications per position, making manual review completely unscalable.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181927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Time-Consuming Process: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Manual screening is slow and error-prone, consuming valuable time that should be spent on candidate interviews.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2695575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Hidden Skill Visibility: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Key technical competencies remain buried in unstructured PDF text, hindering fast identification.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343275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Lack of Prioritization: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Without automated scoring, shortlisting top prospects happens arbitrarily rather than systematically.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9538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43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1938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67087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Recruitment Bottleneck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6450" y="1131404"/>
            <a:ext cx="5314950" cy="45239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476250"/>
            <a:ext cx="53006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Intelligent Solution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1985962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Automated Screening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2812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Instantly extracts and analyzes candidate data at scale with zero manual effort required.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881312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Intelligent Skill Matching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317658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Compares candidate resume skillsets directly against job description requirements.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3776662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Candidate Ranking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40719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Scores every applicant based on fit percentage to surface top talent immediately.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4672012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Insights Generation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496728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Produces hiring recommendations, fit summaries, and custom interview prompts.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24062"/>
            <a:ext cx="16772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19412"/>
            <a:ext cx="18677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14762"/>
            <a:ext cx="23440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710112"/>
            <a:ext cx="186779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852862"/>
            <a:ext cx="883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05287"/>
            <a:ext cx="243066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44180" y="1547812"/>
            <a:ext cx="243066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6860" y="4205287"/>
            <a:ext cx="243066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89541" y="1547812"/>
            <a:ext cx="243066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4405312"/>
            <a:ext cx="203061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20759" y="4605337"/>
            <a:ext cx="21321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Enter JD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4967287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 job description specifications and key skill requirements into the system.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644205" y="1747837"/>
            <a:ext cx="203061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593440" y="1947862"/>
            <a:ext cx="21321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Extract Skills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644205" y="2309812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parsing defines target keywords, core competencies, and experience parameters.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516885" y="4405312"/>
            <a:ext cx="203061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66120" y="4605337"/>
            <a:ext cx="21321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Upload Resumes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16885" y="4967287"/>
            <a:ext cx="203061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Batch upload candidate resume files in PDF format for parallel text parsing.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389566" y="1747837"/>
            <a:ext cx="203061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338801" y="1947862"/>
            <a:ext cx="21321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Parse &amp; Rank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389566" y="2309812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System scores candidates and delivers a fully ranked, insight-enriched list instantly.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System Workflow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672530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545210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7417891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290571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6629"/>
            <a:ext cx="2619375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796629"/>
            <a:ext cx="2619375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796629"/>
            <a:ext cx="2619375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2796629"/>
            <a:ext cx="2619375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0347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771525" y="3663404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Batch Processing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71525" y="39586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Simultaneous PDF text extraction and multi-resume candidate parsing for high-volume pipelines.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1400" y="30347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3581400" y="3663404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Skill Scoring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581400" y="39586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Algorithmic skill matching algorithm that ranks candidates objectively by percentage fit.</a:t>
            </a:r>
            <a:endParaRPr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30347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6391275" y="3663404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Experience Analysis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91275" y="39586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Deep parsing of project history and career progression to surface background depth.</a:t>
            </a:r>
            <a:endParaRPr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01150" y="30347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201150" y="3663404"/>
            <a:ext cx="23302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Insights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01150" y="3958679"/>
            <a:ext cx="2219325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profile summaries, recommendation ratings, and tailored interview prompts.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9162" y="3158579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05225" y="315857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5100" y="315857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10687" y="3158579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Capability Modules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71575"/>
            <a:ext cx="5334000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171575"/>
            <a:ext cx="5334000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14668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247775" y="1466850"/>
            <a:ext cx="22623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Backend &amp; Processing</a:t>
            </a: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14668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029450" y="1466850"/>
            <a:ext cx="24379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4B8A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Frontend &amp; Deployment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209675" y="19240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+ Flask: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Powers robust backend business logic and lightweight RESTful API layer.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209675" y="25717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PyPDF2 Engine: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Fast, structured PDF text parsing and character extraction.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209675" y="32194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Open-Source: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Zero software licensing overhead with maximum extensibility.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924675" y="19240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Bootstrap + Jinja2: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Clean, responsive user interface with dynamic server rendering.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924675" y="25717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Render + Gunicorn: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Enterprise-ready cloud deployment with minimal server configuration.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924675" y="3219450"/>
            <a:ext cx="440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 Versioning: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Seamless source code management and collaborative pipeline.</a:t>
            </a:r>
            <a:endParaRPr/>
          </a:p>
        </p:txBody>
      </p:sp>
      <p:pic>
        <p:nvPicPr>
          <p:cNvPr id="200" name="Google Shape;20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9478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5955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32432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19478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25955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81775" y="3243262"/>
            <a:ext cx="161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19"/>
          <p:cNvGraphicFramePr/>
          <p:nvPr/>
        </p:nvGraphicFramePr>
        <p:xfrm>
          <a:off x="571500" y="1843087"/>
          <a:ext cx="11029925" cy="3867150"/>
        </p:xfrm>
        <a:graphic>
          <a:graphicData uri="http://schemas.openxmlformats.org/drawingml/2006/table">
            <a:tbl>
              <a:tblPr firstRow="1" bandRow="1">
                <a:noFill/>
                <a:tableStyleId>{C6738562-3631-44F7-A234-CF1CED1B8779}</a:tableStyleId>
              </a:tblPr>
              <a:tblGrid>
                <a:gridCol w="2757475"/>
                <a:gridCol w="2757475"/>
                <a:gridCol w="5514975"/>
              </a:tblGrid>
              <a:tr h="64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Module File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Functionality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14B8A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resume_parser.py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 Extraction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Parses raw PDF resume documents and converts unstructured text into clean data strings.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14B8A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info_extractor.py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Contact Parsing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Extracts candidate entity details including Full Name, Email Address, and Phone Number.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14B8A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matcher.py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Skill Scoring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Evaluates candidate skill clusters against job requirements to compute percentage match score.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14B8A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project_extractor.py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Experience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Surfaces career achievements, technical project details, and total relevant work tenure.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14B8A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recommendation.py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Decision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Synthesizes candidate report into actionable status (Hire/Maybe/Reject) and custom interview questions.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19"/>
          <p:cNvSpPr/>
          <p:nvPr/>
        </p:nvSpPr>
        <p:spPr>
          <a:xfrm>
            <a:off x="581025" y="231933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3338512" y="231933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096000" y="231933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81025" y="2995612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338512" y="2995612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6096000" y="2995612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81025" y="367188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3338512" y="367188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096000" y="367188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81025" y="4348162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3338512" y="4348162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096000" y="4348162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81025" y="502443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3338512" y="5024437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096000" y="502443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 System Architecture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9362"/>
            <a:ext cx="53340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1650" y="2909887"/>
            <a:ext cx="29337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2195512" y="3957637"/>
            <a:ext cx="2085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Screening Time Saved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295400" y="4329112"/>
            <a:ext cx="388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Recruiters jump straight to interviewing top-ranked prospects.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29400" y="248126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Complete Structured Profile: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Instant access to contact information, experience summaries, and skill gap analysis.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629400" y="312896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Match Percentage Fit: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applicant receives a normalized numerical score based on JD alignment.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629400" y="377666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Hiring Recommendations: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Clear status classification (Hire / Maybe / Reject) backed by analytical reasoning.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629400" y="442436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Tailored Interview Prompts: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System automatically suggests targeted technical questions based on identified skill gaps.</a:t>
            </a:r>
            <a:endParaRPr/>
          </a:p>
        </p:txBody>
      </p:sp>
      <p:pic>
        <p:nvPicPr>
          <p:cNvPr id="244" name="Google Shape;24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50507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15277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80047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Actionable Candidate Deliverables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81250"/>
            <a:ext cx="542925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81250"/>
            <a:ext cx="5429250" cy="2790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74320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425" y="2724150"/>
            <a:ext cx="173021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0B981"/>
                </a:solidFill>
                <a:latin typeface="Plus Jakarta Sans SemiBold"/>
              </a:rPr>
              <a:t>Key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4925" y="3143250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Scalability: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Instantly processes massive resume batches during active hiring drives.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3714750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Unbiased Evaluation: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Objective skill scoring eliminates initial recruiter screening bias.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4286250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Instant Insights: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Generates concise summaries for quick executive hiring reviews.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7432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24675" y="2724150"/>
            <a:ext cx="207025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59E0B"/>
                </a:solidFill>
                <a:latin typeface="Plus Jakarta Sans SemiBold"/>
              </a:rPr>
              <a:t>System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9925" y="3143250"/>
            <a:ext cx="4381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PDF Layout Sensitivity: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Highly complex or image-scanned PDFs may impact parsing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9925" y="3714750"/>
            <a:ext cx="4381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Human-in-the-Loop: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Serves as decision support; final hiring calls remain with recruiters.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9925" y="4286250"/>
            <a:ext cx="4381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Keyword Dependency: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Relies on recognized keyword patterns; unlisted synonyms require dictionary expansion.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3181350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375285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4324350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3181350"/>
            <a:ext cx="381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3752850"/>
            <a:ext cx="381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4324350"/>
            <a:ext cx="381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6250" y="476250"/>
            <a:ext cx="117157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Advantages &amp; System Constraints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25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3162300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3733800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4305300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3162300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3733800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4305300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3314"/>
            <a:ext cx="2057400" cy="214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9400" y="2703314"/>
            <a:ext cx="2057400" cy="214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7300" y="2703314"/>
            <a:ext cx="2057400" cy="214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5200" y="2703314"/>
            <a:ext cx="2057400" cy="214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63100" y="2703314"/>
            <a:ext cx="2057400" cy="214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29414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771525" y="3570089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LLM Integration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771525" y="3865364"/>
            <a:ext cx="16573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Deep semantic understanding beyond keywords using advanced AI models.</a:t>
            </a:r>
            <a:endParaRPr/>
          </a:p>
        </p:txBody>
      </p:sp>
      <p:pic>
        <p:nvPicPr>
          <p:cNvPr id="281" name="Google Shape;28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19425" y="29414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3019425" y="3570089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Proficiency Scoring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3019425" y="3865364"/>
            <a:ext cx="165735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Estimates skill expertise levels rather than simple presence detection.</a:t>
            </a:r>
            <a:endParaRPr/>
          </a:p>
        </p:txBody>
      </p:sp>
      <p:pic>
        <p:nvPicPr>
          <p:cNvPr id="284" name="Google Shape;284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67325" y="29414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5267325" y="3570089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Portfolio Scraper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5267325" y="3865364"/>
            <a:ext cx="1657350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Validates candidate claims by inspecting GitHub &amp; online portfolios.</a:t>
            </a:r>
            <a:endParaRPr/>
          </a:p>
        </p:txBody>
      </p:sp>
      <p:pic>
        <p:nvPicPr>
          <p:cNvPr id="287" name="Google Shape;287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15225" y="29414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7515225" y="3570089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Recruiter Portal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7515225" y="3865364"/>
            <a:ext cx="16573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Persistent database dashboard to manage multi-role candidate pipelines.</a:t>
            </a:r>
            <a:endParaRPr/>
          </a:p>
        </p:txBody>
      </p:sp>
      <p:pic>
        <p:nvPicPr>
          <p:cNvPr id="290" name="Google Shape;29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63125" y="29414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/>
        </p:nvSpPr>
        <p:spPr>
          <a:xfrm>
            <a:off x="9763125" y="3570089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OCR Engine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9763125" y="3865364"/>
            <a:ext cx="16573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Optical character recognition to parse scanned images and physical docs.</a:t>
            </a:r>
            <a:endParaRPr/>
          </a:p>
        </p:txBody>
      </p:sp>
      <p:pic>
        <p:nvPicPr>
          <p:cNvPr id="293" name="Google Shape;293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5350" y="306526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43250" y="306526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362575" y="3065264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39050" y="306526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910762" y="3065264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Development Roadmap</a:t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7280" y="2290762"/>
            <a:ext cx="141743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295275" y="2767012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571500" y="36814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reviewing the Smart Resume Screening Presentation.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571500" y="4376737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 AYUSH  |  AI RECRUITMENT SUITE</a:t>
            </a:r>
            <a:endParaRPr/>
          </a:p>
        </p:txBody>
      </p:sp>
      <p:pic>
        <p:nvPicPr>
          <p:cNvPr id="309" name="Google Shape;30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0155" y="2371725"/>
            <a:ext cx="1586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76538" y="4395787"/>
            <a:ext cx="141089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729</Words>
  <Application>Microsoft Office PowerPoint</Application>
  <PresentationFormat>Custom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Plus Jakarta Sans</vt:lpstr>
      <vt:lpstr>Inter</vt:lpstr>
      <vt:lpstr>Inter SemiBold</vt:lpstr>
      <vt:lpstr>Calibri</vt:lpstr>
      <vt:lpstr>Plus Jakarta Sans SemiBold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AYUSH </cp:lastModifiedBy>
  <cp:revision>2</cp:revision>
  <dcterms:modified xsi:type="dcterms:W3CDTF">2026-08-11T14:32:38Z</dcterms:modified>
</cp:coreProperties>
</file>